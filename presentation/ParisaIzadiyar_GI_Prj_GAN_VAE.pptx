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74" r:id="rId2"/>
    <p:sldId id="257" r:id="rId3"/>
    <p:sldId id="258" r:id="rId4"/>
    <p:sldId id="275" r:id="rId5"/>
    <p:sldId id="276" r:id="rId6"/>
    <p:sldId id="277" r:id="rId7"/>
    <p:sldId id="259" r:id="rId8"/>
    <p:sldId id="278" r:id="rId9"/>
    <p:sldId id="279" r:id="rId10"/>
    <p:sldId id="260" r:id="rId11"/>
    <p:sldId id="280" r:id="rId12"/>
    <p:sldId id="261" r:id="rId13"/>
    <p:sldId id="262" r:id="rId14"/>
    <p:sldId id="281" r:id="rId15"/>
    <p:sldId id="264" r:id="rId16"/>
    <p:sldId id="265" r:id="rId17"/>
    <p:sldId id="282" r:id="rId18"/>
    <p:sldId id="268" r:id="rId19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napToObjects="1">
      <p:cViewPr varScale="1">
        <p:scale>
          <a:sx n="78" d="100"/>
          <a:sy n="78" d="100"/>
        </p:scale>
        <p:origin x="1594" y="77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heme" Target="theme/them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2/24/2026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2/24/2026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2/24/2026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2/24/2026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2/24/2026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2/24/2026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2/24/2026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2/24/2026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2/24/2026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2/24/2026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2/24/2026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2/24/2026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5899C1A-4919-72C7-970A-0022E133032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48307" y="841247"/>
            <a:ext cx="3363402" cy="5340097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pPr marL="0" indent="0">
              <a:buNone/>
            </a:pPr>
            <a:r>
              <a:rPr lang="en-GB" sz="1600" dirty="0">
                <a:solidFill>
                  <a:schemeClr val="tx2"/>
                </a:solidFill>
              </a:rPr>
              <a:t>Generative Adversarial Networks or Variational Auto Encoders to produce digit images from the MNIST dataset?</a:t>
            </a:r>
          </a:p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pPr marL="0" indent="0">
              <a:buNone/>
            </a:pPr>
            <a:r>
              <a:rPr lang="en-GB" sz="1600" dirty="0">
                <a:solidFill>
                  <a:schemeClr val="tx2"/>
                </a:solidFill>
              </a:rPr>
              <a:t>PARISA IZADIYAR</a:t>
            </a:r>
          </a:p>
          <a:p>
            <a:pPr marL="0" indent="0">
              <a:buNone/>
            </a:pPr>
            <a:r>
              <a:rPr lang="en-GB" sz="1600" dirty="0">
                <a:solidFill>
                  <a:schemeClr val="tx2"/>
                </a:solidFill>
              </a:rPr>
              <a:t>February 2026</a:t>
            </a:r>
          </a:p>
        </p:txBody>
      </p:sp>
    </p:spTree>
    <p:extLst>
      <p:ext uri="{BB962C8B-B14F-4D97-AF65-F5344CB8AC3E}">
        <p14:creationId xmlns:p14="http://schemas.microsoft.com/office/powerpoint/2010/main" val="424070916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75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77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79" name="Group 1078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080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81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83" name="Group 1082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en-GB" sz="4000" dirty="0">
                <a:solidFill>
                  <a:schemeClr val="bg1"/>
                </a:solidFill>
              </a:rPr>
              <a:t>Benchmark </a:t>
            </a:r>
            <a:endParaRPr lang="en-GB" sz="4200" dirty="0">
              <a:solidFill>
                <a:schemeClr val="bg1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90242" y="3692319"/>
            <a:ext cx="7434557" cy="2610158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Dataset Name: The standard MNIST (Modified National Institute of Standards and Technology) database.</a:t>
            </a:r>
          </a:p>
          <a:p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Volume: 60,000 training images and 10,000 testing images.</a:t>
            </a:r>
          </a:p>
          <a:p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Format: Grayscale images with a resolution of 28x28 pixels.</a:t>
            </a:r>
          </a:p>
          <a:p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Objective: Serve as a foundational baseline to test generative capabilities without the overwhelming complexity of high-resolution </a:t>
            </a:r>
            <a:r>
              <a:rPr lang="en-GB" sz="1600" dirty="0" err="1">
                <a:solidFill>
                  <a:schemeClr val="tx2"/>
                </a:solidFill>
              </a:rPr>
              <a:t>color</a:t>
            </a:r>
            <a:r>
              <a:rPr lang="en-GB" sz="1600" dirty="0">
                <a:solidFill>
                  <a:schemeClr val="tx2"/>
                </a:solidFill>
              </a:rPr>
              <a:t> datasets.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2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Benchmark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89787" y="3566809"/>
            <a:ext cx="8288742" cy="2961809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Tensor Conversion: All images were converted to </a:t>
            </a:r>
            <a:r>
              <a:rPr lang="en-GB" sz="1600" dirty="0" err="1">
                <a:solidFill>
                  <a:schemeClr val="tx2"/>
                </a:solidFill>
              </a:rPr>
              <a:t>PyTorch</a:t>
            </a:r>
            <a:r>
              <a:rPr lang="en-GB" sz="1600" dirty="0">
                <a:solidFill>
                  <a:schemeClr val="tx2"/>
                </a:solidFill>
              </a:rPr>
              <a:t> tensors to enable GPU acceleration.</a:t>
            </a:r>
          </a:p>
          <a:p>
            <a:r>
              <a:rPr lang="en-GB" sz="1600" dirty="0">
                <a:solidFill>
                  <a:schemeClr val="tx2"/>
                </a:solidFill>
              </a:rPr>
              <a:t>Normalization Strategy: Pixel values were shifted from a standard [0, 1] range to a [-1, 1] range.</a:t>
            </a:r>
          </a:p>
          <a:p>
            <a:r>
              <a:rPr lang="en-GB" sz="1600" dirty="0">
                <a:solidFill>
                  <a:schemeClr val="tx2"/>
                </a:solidFill>
              </a:rPr>
              <a:t>Mathematical Reasoning: This specific normalization optimizes the Generative models, as their final layers utilize Tanh activation functions which naturally output values between -1 and 1.</a:t>
            </a:r>
          </a:p>
          <a:p>
            <a:r>
              <a:rPr lang="en-GB" sz="1600" dirty="0">
                <a:solidFill>
                  <a:schemeClr val="tx2"/>
                </a:solidFill>
              </a:rPr>
              <a:t>Batching: Data was processed in batches of 128 to maintain stable gradient updates.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373BDE0-B52C-4ED2-C730-A786441140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2" name="Slide Background Fill">
            <a:extLst>
              <a:ext uri="{FF2B5EF4-FFF2-40B4-BE49-F238E27FC236}">
                <a16:creationId xmlns:a16="http://schemas.microsoft.com/office/drawing/2014/main" id="{70F5AC71-04E4-EEAC-A620-4D53CA64896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Color Cover">
            <a:extLst>
              <a:ext uri="{FF2B5EF4-FFF2-40B4-BE49-F238E27FC236}">
                <a16:creationId xmlns:a16="http://schemas.microsoft.com/office/drawing/2014/main" id="{A0BBBFCB-4213-A245-300F-3261348CFDE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147D30C-38B2-89FB-98B6-A0EBF523143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1DFBE182-464E-B7A6-0E18-842F164DF0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" name="Color">
              <a:extLst>
                <a:ext uri="{FF2B5EF4-FFF2-40B4-BE49-F238E27FC236}">
                  <a16:creationId xmlns:a16="http://schemas.microsoft.com/office/drawing/2014/main" id="{D3CAD23B-A927-6858-0923-652FC29CE27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08F22B0-2B42-CB5E-2533-FA102F4DDA9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97E79A4-B1C9-0C9D-CFA8-5ACE4FC0FEE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11F11F3-6135-AFEE-CFC3-51A53AD7BD9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7AC7363-E4C8-C681-B1DA-CC46953174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8536EB2-B9E1-CC3B-A211-9D0C9DE229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3359C5F-643F-3858-3A05-D1695617A75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E0F604F-0CF5-69C9-4997-6625A08BB34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A2019D1-9045-03D9-AC8B-0D74E58A4F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424F77A-F045-5CE3-198B-6F7AE33ADE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Involved Approaches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806F797-6BF6-EAE7-F1EA-94B1950C644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89787" y="3566809"/>
            <a:ext cx="8288742" cy="2961809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Core Challenge: How do we teach a machine to create completely new, realistic handwritten digits?</a:t>
            </a:r>
          </a:p>
          <a:p>
            <a:r>
              <a:rPr lang="en-GB" sz="1600" dirty="0">
                <a:solidFill>
                  <a:schemeClr val="tx2"/>
                </a:solidFill>
              </a:rPr>
              <a:t>Approach 1 (VAE): A probabilistic method focused on data compression, reconstruction, and mathematical smoothness.</a:t>
            </a:r>
          </a:p>
          <a:p>
            <a:r>
              <a:rPr lang="en-GB" sz="1600" dirty="0">
                <a:solidFill>
                  <a:schemeClr val="tx2"/>
                </a:solidFill>
              </a:rPr>
              <a:t>Approach 2 (GAN): An adversarial method focused on game theory, competition, and visual realism.</a:t>
            </a:r>
          </a:p>
        </p:txBody>
      </p:sp>
    </p:spTree>
    <p:extLst>
      <p:ext uri="{BB962C8B-B14F-4D97-AF65-F5344CB8AC3E}">
        <p14:creationId xmlns:p14="http://schemas.microsoft.com/office/powerpoint/2010/main" val="157556675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2AD1420-72A2-D1FF-3230-E74CA2F9F8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2" name="Slide Background Fill">
            <a:extLst>
              <a:ext uri="{FF2B5EF4-FFF2-40B4-BE49-F238E27FC236}">
                <a16:creationId xmlns:a16="http://schemas.microsoft.com/office/drawing/2014/main" id="{5674BC9D-5ABD-BE0E-6553-BDFCC9EDEB6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Color Cover">
            <a:extLst>
              <a:ext uri="{FF2B5EF4-FFF2-40B4-BE49-F238E27FC236}">
                <a16:creationId xmlns:a16="http://schemas.microsoft.com/office/drawing/2014/main" id="{A6526A94-5D77-547A-488F-3F1665FDE2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A7D35C0-2AC7-9D29-71BE-208C2C5ABE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F1527F11-6DFE-E41F-76C9-BE0CC71286F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" name="Color">
              <a:extLst>
                <a:ext uri="{FF2B5EF4-FFF2-40B4-BE49-F238E27FC236}">
                  <a16:creationId xmlns:a16="http://schemas.microsoft.com/office/drawing/2014/main" id="{6C3C0BE2-8989-EBE1-5EAE-FED0DD82AB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25F9F77-DF55-AF1B-AA37-CDA7EBBABC7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6C57160-2D0E-831A-E48F-BACA3B2733F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42D2874-A24D-4493-F23E-433B442845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4787062-4930-7DF6-9F66-D6FACD75A5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6616B5E-240E-E2DE-BED3-2D80EE67E88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6EC6D5-8F95-A09A-77B4-644C8AE8F73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C5E8A28E-6C53-B537-5F50-EAA90496B2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792A282-8905-631E-ADB8-7A2D2B51C1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9A3764A-29C1-5ABE-1075-7A191663B0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Involved Approaches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A1133C8-BD88-D51B-79E5-49EC3EC093A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89787" y="3566809"/>
            <a:ext cx="8288742" cy="2961809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Mechanism: The Variational Autoencoder learns to map input images into a "latent space" defined by a mean and a variance.</a:t>
            </a:r>
          </a:p>
          <a:p>
            <a:r>
              <a:rPr lang="en-GB" sz="1600" dirty="0">
                <a:solidFill>
                  <a:schemeClr val="tx2"/>
                </a:solidFill>
              </a:rPr>
              <a:t>Reconstruction: It samples from this space and attempts to perfectly rebuild the original image.</a:t>
            </a:r>
          </a:p>
          <a:p>
            <a:r>
              <a:rPr lang="en-GB" sz="1600" dirty="0">
                <a:solidFill>
                  <a:schemeClr val="tx2"/>
                </a:solidFill>
              </a:rPr>
              <a:t>Loss Function: Relies on Mean Squared Error (MSE) for pixel accuracy, combined with </a:t>
            </a:r>
            <a:r>
              <a:rPr lang="en-GB" sz="1600" dirty="0" err="1">
                <a:solidFill>
                  <a:schemeClr val="tx2"/>
                </a:solidFill>
              </a:rPr>
              <a:t>Kullback</a:t>
            </a:r>
            <a:r>
              <a:rPr lang="en-GB" sz="1600" dirty="0">
                <a:solidFill>
                  <a:schemeClr val="tx2"/>
                </a:solidFill>
              </a:rPr>
              <a:t>-Leibler (KL) Divergence to keep the latent space organized.</a:t>
            </a:r>
          </a:p>
        </p:txBody>
      </p:sp>
    </p:spTree>
    <p:extLst>
      <p:ext uri="{BB962C8B-B14F-4D97-AF65-F5344CB8AC3E}">
        <p14:creationId xmlns:p14="http://schemas.microsoft.com/office/powerpoint/2010/main" val="258604172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383CEFD-2550-E603-8DA1-ED116E1A4A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2" name="Slide Background Fill">
            <a:extLst>
              <a:ext uri="{FF2B5EF4-FFF2-40B4-BE49-F238E27FC236}">
                <a16:creationId xmlns:a16="http://schemas.microsoft.com/office/drawing/2014/main" id="{0BAC36F1-243C-7012-0ADE-E4E19415EA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Color Cover">
            <a:extLst>
              <a:ext uri="{FF2B5EF4-FFF2-40B4-BE49-F238E27FC236}">
                <a16:creationId xmlns:a16="http://schemas.microsoft.com/office/drawing/2014/main" id="{DCC71FF8-F10E-C934-D4D5-3088B283E18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800C277-9FBA-8C4A-82BC-FB1D0BAFE31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4DCD48B1-21F9-8F8C-E532-B0B07FE210A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" name="Color">
              <a:extLst>
                <a:ext uri="{FF2B5EF4-FFF2-40B4-BE49-F238E27FC236}">
                  <a16:creationId xmlns:a16="http://schemas.microsoft.com/office/drawing/2014/main" id="{534D1FEF-D06A-7E03-9C9C-2AFAAA29328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E0DFD23C-AA25-FB76-5BA3-5A0A3FBB08D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5ED7DCC-22EB-E7B6-8EB5-B0F74E4755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1522C2C-24E8-E251-24A9-857531EF0D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2C8AEC9-F46A-2A94-7685-E3CAE3B3357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BDAAFF9-E6F0-FB63-7DD4-5ADB60CA615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4107D90-C758-6C37-E1C1-040E91EB06C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DB611C6-413A-C6FA-D03F-30191DE0B5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01AF6F0-1D6C-C1E5-4977-DA9C75FEA6F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EB265D7-5E69-93FE-62F2-9A2CA92DE4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Involved Approaches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D5C5C5B-8B6A-CC17-2EF9-1607E0F17AB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89787" y="3566809"/>
            <a:ext cx="8288742" cy="2961809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Mechanism: The Generative Adversarial Network pits two separate neural networks against each other in a zero-sum game.</a:t>
            </a:r>
          </a:p>
          <a:p>
            <a:r>
              <a:rPr lang="en-GB" sz="1600" dirty="0">
                <a:solidFill>
                  <a:schemeClr val="tx2"/>
                </a:solidFill>
              </a:rPr>
              <a:t>The Forger and the Detective: The Generator creates fake images from pure noise, while the Discriminator tries to classify images as real or fake.</a:t>
            </a:r>
          </a:p>
          <a:p>
            <a:r>
              <a:rPr lang="en-GB" sz="1600" dirty="0">
                <a:solidFill>
                  <a:schemeClr val="tx2"/>
                </a:solidFill>
              </a:rPr>
              <a:t>Loss Function: Utilizes Binary Cross-Entropy (BCE) loss to simultaneously update both networks.</a:t>
            </a:r>
          </a:p>
        </p:txBody>
      </p:sp>
    </p:spTree>
    <p:extLst>
      <p:ext uri="{BB962C8B-B14F-4D97-AF65-F5344CB8AC3E}">
        <p14:creationId xmlns:p14="http://schemas.microsoft.com/office/powerpoint/2010/main" val="158715117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Considered Model(s) - VAE Architecture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5089" y="841247"/>
            <a:ext cx="4548176" cy="5451398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Network Type: Multilayer Perceptron (MLP).</a:t>
            </a:r>
          </a:p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Encoder: Flattens the 784-pixel input into a 400-neuron hidden layer, branching into a 20-dimensional mean vector and a 20-dimensional log-variance vector.</a:t>
            </a:r>
          </a:p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Decoder: Takes a 20-dimensional sampled vector, expands it through a 400-neuron layer, and outputs 784 pixels using a Tanh activation.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7850BE9-BC36-0B92-06B1-FAD08FCE8F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3DCEA23B-9A52-D052-3AEF-BD35A3A4312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BB3BE976-DDA0-FC73-44DC-E6DE9D4BCF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9D381038-0AC0-D1CC-E975-431BC5ABF8E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7314F15C-63D0-0526-DA44-5C734D2B62F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418C5B5-C65E-5EE1-D3F0-EF757077F3B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6D260374-5FB3-C6BA-3C41-A19A1AF685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1D7E377-D085-C2F1-471F-69BF1E728E1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6D246D3-422E-5514-8A33-4E71B69ACC9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11A3A7E-5730-F1ED-CF3D-026ECCFE5AF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6E1A4C0-8036-1C09-602A-D151FF4BD7A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97A18A9-0F7C-E237-5E98-3373B69B586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003AD57-661C-0EAA-3E57-EFFFCC53A23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D898FBB-F798-C4A5-9D65-D9F8C47E901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6D0C03D-4F82-0C21-D0A6-FE4CFAA8B3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Considered Model(s) - GAN Architecture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A57E09E-E9BB-52AC-EE4E-6F0E8CE96A3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675527" y="841247"/>
            <a:ext cx="4212834" cy="5451398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Network Type: Multilayer Perceptron (MLP) with </a:t>
            </a:r>
            <a:r>
              <a:rPr lang="en-GB" sz="1600" dirty="0" err="1">
                <a:solidFill>
                  <a:schemeClr val="tx2"/>
                </a:solidFill>
              </a:rPr>
              <a:t>LeakyReLU</a:t>
            </a:r>
            <a:r>
              <a:rPr lang="en-GB" sz="1600" dirty="0">
                <a:solidFill>
                  <a:schemeClr val="tx2"/>
                </a:solidFill>
              </a:rPr>
              <a:t> activations to prevent dead gradients.</a:t>
            </a:r>
          </a:p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Generator: Takes a 20-dimensional noise vector (matching the VAE for fairness) and expands it into 784 pixels.</a:t>
            </a:r>
          </a:p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Discriminator: Compresses the 784-pixel image down to a single probability output using a Sigmoid activation.</a:t>
            </a:r>
          </a:p>
        </p:txBody>
      </p:sp>
    </p:spTree>
    <p:extLst>
      <p:ext uri="{BB962C8B-B14F-4D97-AF65-F5344CB8AC3E}">
        <p14:creationId xmlns:p14="http://schemas.microsoft.com/office/powerpoint/2010/main" val="422234050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C520CE4-C361-4879-EC5D-5C4BFB82EE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B32E84E5-C802-262A-4BE6-89675E7E58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6022CD64-8FB7-85A7-0AD5-7327256CB8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509B4CA-C40B-BB2B-F7B1-4301894A51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0410C1A5-A626-3723-90B8-43C045B952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4B0DD640-547D-CC2F-EFC9-C42A5970CFC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C02EC41-96A9-5902-A2A5-1E2667BAC4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6584197-101B-F27C-0EED-03B63C50DF6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38B0659-6878-E719-DD40-4225687E66A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8D0ACE3-2794-040A-F914-347751F81F6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69A5AD5-755E-7D52-E248-6BB4ED9A887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2D30A7D-1B34-8370-08FA-0EB8D80C37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B030C57-8388-0F8A-5A68-52DE90A77AB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3B79EE0-F648-E0BB-B752-C80BF26E2AB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0ACBB88F-A081-B5AE-90E9-062A058A4C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315" y="841248"/>
            <a:ext cx="4411595" cy="5340097"/>
          </a:xfrm>
        </p:spPr>
        <p:txBody>
          <a:bodyPr anchor="ctr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Considered Model(s) - The Evaluator (Judge)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16D6B32-81BB-F9BF-9B73-9317559FA2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29483" y="841247"/>
            <a:ext cx="4632963" cy="5530056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Network Type: A custom Convolutional Neural Network (CNN).</a:t>
            </a:r>
          </a:p>
          <a:p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Training Phase: Trained on the real MNIST training set until it achieved ~99% accuracy.</a:t>
            </a:r>
          </a:p>
          <a:p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Evaluation Phase: Weights were permanently frozen.</a:t>
            </a:r>
          </a:p>
          <a:p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Outputs Modified: The network was engineered to output both </a:t>
            </a:r>
            <a:r>
              <a:rPr lang="en-GB" sz="1600" dirty="0" err="1">
                <a:solidFill>
                  <a:schemeClr val="tx2"/>
                </a:solidFill>
              </a:rPr>
              <a:t>softmax</a:t>
            </a:r>
            <a:r>
              <a:rPr lang="en-GB" sz="1600" dirty="0">
                <a:solidFill>
                  <a:schemeClr val="tx2"/>
                </a:solidFill>
              </a:rPr>
              <a:t> probabilities and deep hidden-layer features for our final metrics.</a:t>
            </a:r>
          </a:p>
        </p:txBody>
      </p:sp>
    </p:spTree>
    <p:extLst>
      <p:ext uri="{BB962C8B-B14F-4D97-AF65-F5344CB8AC3E}">
        <p14:creationId xmlns:p14="http://schemas.microsoft.com/office/powerpoint/2010/main" val="124737996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6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39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5889670" cy="2733709"/>
          </a:xfrm>
        </p:spPr>
        <p:txBody>
          <a:bodyPr anchor="b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Comments and Discussion before - Visuals &amp; Stability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89787" y="3566809"/>
            <a:ext cx="6282961" cy="2733709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Visual Quality Hypothesis: It is expected the GAN, produces much sharper, high-contrast digits. And VAE produces smoother but slightly blurrier images due to its MSE reconstruction loss.</a:t>
            </a:r>
          </a:p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Training Stability Hypothesis: In  prediction, the VAE would show a smooth, textbook loss convergence, while the GAN would display volatile, oscillating loss curves due to its adversarial nature.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759B700-ED11-7D78-4C59-8EE58053BA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Slide Background Fill">
            <a:extLst>
              <a:ext uri="{FF2B5EF4-FFF2-40B4-BE49-F238E27FC236}">
                <a16:creationId xmlns:a16="http://schemas.microsoft.com/office/drawing/2014/main" id="{2112077A-ECC5-F902-3F5A-E9EF63781F7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6" name="Color Cover">
            <a:extLst>
              <a:ext uri="{FF2B5EF4-FFF2-40B4-BE49-F238E27FC236}">
                <a16:creationId xmlns:a16="http://schemas.microsoft.com/office/drawing/2014/main" id="{15B7B6C1-FD1F-E2C7-4B78-9EA9790700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CD84DE25-140F-7B4A-0D2A-2619D506609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39" name="Color">
              <a:extLst>
                <a:ext uri="{FF2B5EF4-FFF2-40B4-BE49-F238E27FC236}">
                  <a16:creationId xmlns:a16="http://schemas.microsoft.com/office/drawing/2014/main" id="{9CB5B83E-D769-201A-2D5D-DE192AD807E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BADD5D7B-1D69-5242-B808-4DCB498470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1198CF30-385F-7B63-0619-930B391935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3EB3E3F-6B3D-71D5-BA3B-951FC6AB56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1D79D74-631C-E613-4CCF-8C6ACC9773D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F9FC945-EA67-CFAD-5DA0-F2D5B2E6DEB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E7D48D9B-2B84-5F2A-AE93-12094C9893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6A84AA4-7863-1595-752B-3F486B3579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10E5CED-A0BD-0DC3-C3C3-326EA9618A4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F011AEF-97EA-FD84-C942-797E78C1C7C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D34E2D8F-7D2A-E0DC-7A3E-D5A35EE84F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9"/>
            <a:ext cx="5889670" cy="2733709"/>
          </a:xfrm>
        </p:spPr>
        <p:txBody>
          <a:bodyPr anchor="b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Comments and Discussion before - Diversity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9FC7288-FFEC-6A89-310B-672057013CB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89787" y="3566809"/>
            <a:ext cx="6282961" cy="2733709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 Mode Collapse Hypothesis: GANs are notorious for finding one "easy" output and repeating it to trick the discriminator.</a:t>
            </a:r>
          </a:p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Diversity Prediction: As a hypothesis, the VAE's KL Divergence would force a well-rounded latent space, resulting in a perfect representation of all 10 digits. It is expected the GAN, show signs of partial mode collapse.</a:t>
            </a:r>
            <a:endParaRPr lang="en-GB" sz="1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052103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Slide Background Fill">
            <a:extLst>
              <a:ext uri="{FF2B5EF4-FFF2-40B4-BE49-F238E27FC236}">
                <a16:creationId xmlns:a16="http://schemas.microsoft.com/office/drawing/2014/main" id="{03AF1C04-3FEF-41BD-BB84-2F263765BEB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94DE5E8-C080-45A4-B2F4-8FE7D8F8EE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6" name="Color Cover">
              <a:extLst>
                <a:ext uri="{FF2B5EF4-FFF2-40B4-BE49-F238E27FC236}">
                  <a16:creationId xmlns:a16="http://schemas.microsoft.com/office/drawing/2014/main" id="{1FAC8321-8295-4F58-80B8-C1A774606B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Color Cover">
              <a:extLst>
                <a:ext uri="{FF2B5EF4-FFF2-40B4-BE49-F238E27FC236}">
                  <a16:creationId xmlns:a16="http://schemas.microsoft.com/office/drawing/2014/main" id="{2BE89D78-556E-4C9E-A234-78B08502347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A28EBCD-582B-4E3B-AB95-15EA16034C6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20" name="Color">
              <a:extLst>
                <a:ext uri="{FF2B5EF4-FFF2-40B4-BE49-F238E27FC236}">
                  <a16:creationId xmlns:a16="http://schemas.microsoft.com/office/drawing/2014/main" id="{49E29E18-2832-4FBD-901C-97986DBD0C1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Color">
              <a:extLst>
                <a:ext uri="{FF2B5EF4-FFF2-40B4-BE49-F238E27FC236}">
                  <a16:creationId xmlns:a16="http://schemas.microsoft.com/office/drawing/2014/main" id="{7327E470-287A-4E1E-8A04-A3596DBD970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7" cy="6858000"/>
            <a:chOff x="0" y="0"/>
            <a:chExt cx="12188952" cy="6858000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76045" y="536594"/>
            <a:ext cx="6847924" cy="965894"/>
          </a:xfrm>
        </p:spPr>
        <p:txBody>
          <a:bodyPr anchor="b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Results - Visual Comparison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78862" y="2187584"/>
            <a:ext cx="5183961" cy="1319615"/>
          </a:xfrm>
        </p:spPr>
        <p:txBody>
          <a:bodyPr anchor="t">
            <a:normAutofit/>
          </a:bodyPr>
          <a:lstStyle/>
          <a:p>
            <a:r>
              <a:rPr lang="en-GB" sz="1600" dirty="0">
                <a:solidFill>
                  <a:schemeClr val="bg1"/>
                </a:solidFill>
              </a:rPr>
              <a:t>Side-by-side comparison of 64 generated digits from identical random noise inputs.</a:t>
            </a:r>
          </a:p>
          <a:p>
            <a:endParaRPr lang="en-GB" sz="1600" dirty="0">
              <a:solidFill>
                <a:schemeClr val="bg1"/>
              </a:solidFill>
            </a:endParaRPr>
          </a:p>
          <a:p>
            <a:endParaRPr lang="en-GB" sz="1600" dirty="0">
              <a:solidFill>
                <a:schemeClr val="bg1"/>
              </a:solidFill>
            </a:endParaRPr>
          </a:p>
          <a:p>
            <a:pPr marL="0" indent="0">
              <a:buNone/>
            </a:pPr>
            <a:endParaRPr lang="en-GB" sz="1600" dirty="0">
              <a:solidFill>
                <a:schemeClr val="bg1"/>
              </a:solidFill>
            </a:endParaRPr>
          </a:p>
          <a:p>
            <a:pPr marL="0" indent="0">
              <a:buNone/>
            </a:pPr>
            <a:endParaRPr lang="en-GB" sz="1600" dirty="0">
              <a:solidFill>
                <a:schemeClr val="bg1"/>
              </a:solidFill>
            </a:endParaRPr>
          </a:p>
          <a:p>
            <a:pPr marL="0" indent="0">
              <a:buNone/>
            </a:pPr>
            <a:endParaRPr lang="en-GB" sz="1600" dirty="0">
              <a:solidFill>
                <a:schemeClr val="bg1"/>
              </a:solidFill>
            </a:endParaRPr>
          </a:p>
          <a:p>
            <a:pPr marL="0" indent="0">
              <a:buNone/>
            </a:pPr>
            <a:endParaRPr lang="en-GB" sz="1600" dirty="0">
              <a:solidFill>
                <a:schemeClr val="bg1"/>
              </a:solidFill>
            </a:endParaRPr>
          </a:p>
        </p:txBody>
      </p:sp>
      <p:pic>
        <p:nvPicPr>
          <p:cNvPr id="3082" name="Picture 10">
            <a:extLst>
              <a:ext uri="{FF2B5EF4-FFF2-40B4-BE49-F238E27FC236}">
                <a16:creationId xmlns:a16="http://schemas.microsoft.com/office/drawing/2014/main" id="{41D90586-8982-046F-7929-1568D909A1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54569" y="2847391"/>
            <a:ext cx="5828300" cy="299914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8189798" cy="2662636"/>
          </a:xfrm>
        </p:spPr>
        <p:txBody>
          <a:bodyPr anchor="b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Results - Latent Space Interpolation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2817" y="2909228"/>
            <a:ext cx="6361471" cy="2327275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Interpolating between two random points in the 20-dimensional latent space.</a:t>
            </a:r>
          </a:p>
        </p:txBody>
      </p:sp>
      <p:pic>
        <p:nvPicPr>
          <p:cNvPr id="4098" name="Picture 2">
            <a:extLst>
              <a:ext uri="{FF2B5EF4-FFF2-40B4-BE49-F238E27FC236}">
                <a16:creationId xmlns:a16="http://schemas.microsoft.com/office/drawing/2014/main" id="{EC093F23-E893-C7D1-9ED8-52C08388DC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9421" y="4547035"/>
            <a:ext cx="6997516" cy="17809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A2229FE-0245-C0F9-8939-383E1B863A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E659C85D-A6C4-D2EA-C8B5-B600F0040A8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FACF67F3-EA20-2BEF-33D7-F62C94C22D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55C84344-BDBD-B971-BE1F-C5DB038BC1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6C7275F2-2A46-9B51-FB7A-3F1B937BF6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" name="Color">
              <a:extLst>
                <a:ext uri="{FF2B5EF4-FFF2-40B4-BE49-F238E27FC236}">
                  <a16:creationId xmlns:a16="http://schemas.microsoft.com/office/drawing/2014/main" id="{AEEAFC86-01B2-7CC1-0D51-BF7A7264C6B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5058A90E-8A0F-862D-3195-D0AE0CA784E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86DF10B-1CF1-6875-CE06-499B4162B4D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3ACCAFD-81F6-BB88-0BE3-C04A14BDB9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30E642D-2ADB-C8F3-2FB2-C037AABF5F5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FDF8054-3F5A-8722-C641-968AB1D68AD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263C22D-D2E9-E2FF-3983-B59D1ED243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7F7CB62-0620-8291-DF3D-496EF76FB3F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67135D7-12AD-848E-0E51-530BC6B162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71649A6-8AAC-D427-8FAF-1D4D3E1C8B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149" y="-78499"/>
            <a:ext cx="8189798" cy="2662636"/>
          </a:xfrm>
        </p:spPr>
        <p:txBody>
          <a:bodyPr anchor="b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Results - Training Loss Curves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44326DE-9921-8D73-5C8C-71D9B5C0F73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89787" y="3566810"/>
            <a:ext cx="7806961" cy="2755332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endParaRPr lang="en-GB" sz="1600" dirty="0">
              <a:solidFill>
                <a:schemeClr val="tx2"/>
              </a:solidFill>
            </a:endParaRPr>
          </a:p>
          <a:p>
            <a:endParaRPr lang="en-GB" sz="1600" dirty="0">
              <a:solidFill>
                <a:schemeClr val="tx2"/>
              </a:solidFill>
            </a:endParaRPr>
          </a:p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endParaRPr lang="en-GB" sz="1600" dirty="0">
              <a:solidFill>
                <a:schemeClr val="tx2"/>
              </a:solidFill>
            </a:endParaRPr>
          </a:p>
          <a:p>
            <a:endParaRPr lang="en-GB" sz="1600" dirty="0">
              <a:solidFill>
                <a:schemeClr val="tx2"/>
              </a:solidFill>
            </a:endParaRPr>
          </a:p>
          <a:p>
            <a:endParaRPr lang="en-GB" sz="1600" dirty="0">
              <a:solidFill>
                <a:schemeClr val="tx2"/>
              </a:solidFill>
            </a:endParaRPr>
          </a:p>
          <a:p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Tracking the loss functions over the training epochs.</a:t>
            </a:r>
          </a:p>
        </p:txBody>
      </p:sp>
      <p:pic>
        <p:nvPicPr>
          <p:cNvPr id="6146" name="Picture 2">
            <a:extLst>
              <a:ext uri="{FF2B5EF4-FFF2-40B4-BE49-F238E27FC236}">
                <a16:creationId xmlns:a16="http://schemas.microsoft.com/office/drawing/2014/main" id="{107B050E-414F-D628-03BA-941588F6AC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4580" y="3030952"/>
            <a:ext cx="6752311" cy="25051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7464573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3300ACA1-4C65-4F60-B139-EA3F53C9CC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518"/>
            <a:ext cx="9141714" cy="3490956"/>
            <a:chOff x="651279" y="598259"/>
            <a:chExt cx="10889442" cy="5680742"/>
          </a:xfrm>
        </p:grpSpPr>
        <p:sp>
          <p:nvSpPr>
            <p:cNvPr id="36" name="Color">
              <a:extLst>
                <a:ext uri="{FF2B5EF4-FFF2-40B4-BE49-F238E27FC236}">
                  <a16:creationId xmlns:a16="http://schemas.microsoft.com/office/drawing/2014/main" id="{B79F55E3-994C-4E20-85AB-669EB4A11F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3" name="Color">
              <a:extLst>
                <a:ext uri="{FF2B5EF4-FFF2-40B4-BE49-F238E27FC236}">
                  <a16:creationId xmlns:a16="http://schemas.microsoft.com/office/drawing/2014/main" id="{18ED73C6-80DF-4327-90E0-7F3F428C786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5" name="Freeform: Shape 40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6" name="Freeform: Shape 41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7" name="Freeform: Shape 42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8" name="Freeform: Shape 43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9" name="Freeform: Shape 44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60" name="Freeform: Shape 45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7108870" cy="2706182"/>
          </a:xfrm>
        </p:spPr>
        <p:txBody>
          <a:bodyPr anchor="b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Discussion of the results - Confidence Score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89787" y="3566809"/>
            <a:ext cx="7718471" cy="3119125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Metric Objective: Measure visual realism by passing 5,000 generated images through our frozen CNN Judge.</a:t>
            </a:r>
          </a:p>
          <a:p>
            <a:r>
              <a:rPr lang="en-GB" sz="1600" dirty="0">
                <a:solidFill>
                  <a:schemeClr val="tx2"/>
                </a:solidFill>
              </a:rPr>
              <a:t>VAE Performance: Achieved an average confidence score of [78.67%].</a:t>
            </a:r>
          </a:p>
          <a:p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GAN Performance: Achieved an average confidence score of [90.25%].</a:t>
            </a:r>
          </a:p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Analysis: The GAN's sharp, high-contrast edges are mathematically much more convincing to a standard classifier than the VAE's softer edges.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6332122" cy="2706182"/>
          </a:xfrm>
        </p:spPr>
        <p:txBody>
          <a:bodyPr anchor="b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Discussion of the results - Diversity </a:t>
            </a:r>
            <a:br>
              <a:rPr lang="en-GB" sz="4200" dirty="0">
                <a:solidFill>
                  <a:schemeClr val="bg1"/>
                </a:solidFill>
              </a:rPr>
            </a:br>
            <a:endParaRPr lang="en-GB" sz="4200" dirty="0">
              <a:solidFill>
                <a:schemeClr val="bg1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63589" y="3748988"/>
            <a:ext cx="8282661" cy="3392014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Metric Objective: Measure class distribution to check for mode collapse using Shannon Entropy (Max ideal score = 2.30).</a:t>
            </a:r>
          </a:p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VAE Score: [2.241/2.303] (Highly uniform distribution).</a:t>
            </a:r>
          </a:p>
          <a:p>
            <a:r>
              <a:rPr lang="en-GB" sz="1600" dirty="0">
                <a:solidFill>
                  <a:schemeClr val="tx2"/>
                </a:solidFill>
              </a:rPr>
              <a:t>GAN Score: [2.206/2.303] (Prone to uneven distribution).</a:t>
            </a:r>
          </a:p>
        </p:txBody>
      </p:sp>
      <p:pic>
        <p:nvPicPr>
          <p:cNvPr id="5124" name="Picture 4">
            <a:extLst>
              <a:ext uri="{FF2B5EF4-FFF2-40B4-BE49-F238E27FC236}">
                <a16:creationId xmlns:a16="http://schemas.microsoft.com/office/drawing/2014/main" id="{CACF009E-0541-AF3C-3C8B-3EB70AA347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65408" y="2607070"/>
            <a:ext cx="5480842" cy="19297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44B623E-0166-2796-2CB9-F737AE9E6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6DFF3493-7BAF-05BC-0B61-E3940941D92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6234F06B-EED3-E69A-421F-B2CD3937B2A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9AA11C5-315D-B08C-8471-A2F21DB855D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440360B-FE9E-856B-722A-BB9F76EB1A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BB6143D1-A880-9C78-6EE4-3BAC9D6BCD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23EECC6-A2FB-1CDF-6977-3484049FA9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9820A84-50B3-F47B-4CD0-2D960D137E6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C0E16E2-0625-EF4F-290C-A07E6B8235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39971A9-3D4E-BE27-3280-C3005F3371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DD3F4D2-32DF-1E10-66D6-16EC06442F3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29A489B-4317-73A3-7C2F-905FB7342F4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7E25245-4EDC-02FD-BCFB-4527B9708E3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2C91BB6-2229-1421-F860-D7E0E10311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C5A96E6-9446-F6B4-EDC0-A2C640A94B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9"/>
            <a:ext cx="6332122" cy="2706182"/>
          </a:xfrm>
        </p:spPr>
        <p:txBody>
          <a:bodyPr anchor="b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Discussion of the results - Fréchet Inception Distance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CB5B974-4A31-9DCD-6EEC-F2682B89EA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88215" y="3381571"/>
            <a:ext cx="6332122" cy="3463500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Metric Objective: Calculate the statistical distance between the deep features of real MNIST images and generated images. Lower scores indicate higher quality.</a:t>
            </a:r>
          </a:p>
          <a:p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VAE FID Score: [162.69].</a:t>
            </a:r>
          </a:p>
          <a:p>
            <a:r>
              <a:rPr lang="en-GB" sz="1600" dirty="0">
                <a:solidFill>
                  <a:schemeClr val="tx2"/>
                </a:solidFill>
              </a:rPr>
              <a:t>GAN FID Score: [64.61].</a:t>
            </a:r>
          </a:p>
          <a:p>
            <a:pPr marL="0" indent="0">
              <a:buNone/>
            </a:pPr>
            <a:endParaRPr lang="en-GB" sz="160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119427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07D943FC-7A2D-40FA-9C30-CAEA51F1738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A9AA21F-497A-4BF7-9C74-2EFA3EE4FC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F3A96AAF-F15D-48EB-B6A2-1D72010658B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DA0A1F48-0282-4627-B0EC-BD65FE7929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1108161" y="2099341"/>
            <a:ext cx="4471415" cy="2485581"/>
          </a:xfrm>
        </p:spPr>
        <p:txBody>
          <a:bodyPr anchor="ctr">
            <a:normAutofit/>
          </a:bodyPr>
          <a:lstStyle/>
          <a:p>
            <a:pPr algn="l"/>
            <a:r>
              <a:rPr lang="en-GB" sz="4200" dirty="0">
                <a:solidFill>
                  <a:schemeClr val="bg1"/>
                </a:solidFill>
              </a:rPr>
              <a:t>Conclusions - The Final Verdict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971D9DBE-9F90-43A4-8285-A7A99286577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142723" y="1504484"/>
            <a:ext cx="6467281" cy="43616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7144" y="1708029"/>
            <a:ext cx="6322860" cy="4089972"/>
          </a:xfrm>
        </p:spPr>
        <p:txBody>
          <a:bodyPr anchor="ctr">
            <a:normAutofit/>
          </a:bodyPr>
          <a:lstStyle/>
          <a:p>
            <a:r>
              <a:rPr lang="en-GB" sz="1600" dirty="0">
                <a:solidFill>
                  <a:schemeClr val="tx2"/>
                </a:solidFill>
              </a:rPr>
              <a:t>Summary: There is no single "best" model; the choice depends entirely on the requirements of the specific task.</a:t>
            </a:r>
          </a:p>
          <a:p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When to choose GANs: When maximum visual sharpness, high contrast, and photorealism are required, and you can afford to tune hyperparameters to fight instability.</a:t>
            </a:r>
          </a:p>
          <a:p>
            <a:endParaRPr lang="en-GB" sz="1600" dirty="0">
              <a:solidFill>
                <a:schemeClr val="tx2"/>
              </a:solidFill>
            </a:endParaRPr>
          </a:p>
          <a:p>
            <a:r>
              <a:rPr lang="en-GB" sz="1600" dirty="0">
                <a:solidFill>
                  <a:schemeClr val="tx2"/>
                </a:solidFill>
              </a:rPr>
              <a:t>When to choose VAEs: When you need a smooth latent space for mathematical interpolation, guaranteed training stability, and a reliable representation of the entire dataset without mode collapse.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655</TotalTime>
  <Words>1000</Words>
  <Application>Microsoft Office PowerPoint</Application>
  <PresentationFormat>On-screen Show (4:3)</PresentationFormat>
  <Paragraphs>101</Paragraphs>
  <Slides>18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</vt:i4>
      </vt:variant>
    </vt:vector>
  </HeadingPairs>
  <TitlesOfParts>
    <vt:vector size="21" baseType="lpstr">
      <vt:lpstr>Arial</vt:lpstr>
      <vt:lpstr>Calibri</vt:lpstr>
      <vt:lpstr>Office Theme</vt:lpstr>
      <vt:lpstr>PowerPoint Presentation</vt:lpstr>
      <vt:lpstr>Benchmark </vt:lpstr>
      <vt:lpstr>Benchmark</vt:lpstr>
      <vt:lpstr>Involved Approaches</vt:lpstr>
      <vt:lpstr>Involved Approaches</vt:lpstr>
      <vt:lpstr>Involved Approaches</vt:lpstr>
      <vt:lpstr>Considered Model(s) - VAE Architecture</vt:lpstr>
      <vt:lpstr>Considered Model(s) - GAN Architecture</vt:lpstr>
      <vt:lpstr>Considered Model(s) - The Evaluator (Judge)</vt:lpstr>
      <vt:lpstr>Comments and Discussion before - Visuals &amp; Stability</vt:lpstr>
      <vt:lpstr>Comments and Discussion before - Diversity</vt:lpstr>
      <vt:lpstr>Results - Visual Comparison</vt:lpstr>
      <vt:lpstr>Results - Latent Space Interpolation</vt:lpstr>
      <vt:lpstr>Results - Training Loss Curves</vt:lpstr>
      <vt:lpstr>Discussion of the results - Confidence Score</vt:lpstr>
      <vt:lpstr>Discussion of the results - Diversity  </vt:lpstr>
      <vt:lpstr>Discussion of the results - Fréchet Inception Distance</vt:lpstr>
      <vt:lpstr>Conclusions - The Final Verdict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>Parisa Izadyar</dc:creator>
  <cp:keywords/>
  <dc:description>generated using python-pptx</dc:description>
  <cp:lastModifiedBy>IZADIYAR PARISA</cp:lastModifiedBy>
  <cp:revision>11</cp:revision>
  <dcterms:created xsi:type="dcterms:W3CDTF">2013-01-27T09:14:16Z</dcterms:created>
  <dcterms:modified xsi:type="dcterms:W3CDTF">2026-02-24T20:05:49Z</dcterms:modified>
  <cp:category/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2ad0b24d-6422-44b0-b3de-abb3a9e8c81a_Enabled">
    <vt:lpwstr>true</vt:lpwstr>
  </property>
  <property fmtid="{D5CDD505-2E9C-101B-9397-08002B2CF9AE}" pid="3" name="MSIP_Label_2ad0b24d-6422-44b0-b3de-abb3a9e8c81a_SetDate">
    <vt:lpwstr>2026-02-22T20:21:08Z</vt:lpwstr>
  </property>
  <property fmtid="{D5CDD505-2E9C-101B-9397-08002B2CF9AE}" pid="4" name="MSIP_Label_2ad0b24d-6422-44b0-b3de-abb3a9e8c81a_Method">
    <vt:lpwstr>Standard</vt:lpwstr>
  </property>
  <property fmtid="{D5CDD505-2E9C-101B-9397-08002B2CF9AE}" pid="5" name="MSIP_Label_2ad0b24d-6422-44b0-b3de-abb3a9e8c81a_Name">
    <vt:lpwstr>defa4170-0d19-0005-0004-bc88714345d2</vt:lpwstr>
  </property>
  <property fmtid="{D5CDD505-2E9C-101B-9397-08002B2CF9AE}" pid="6" name="MSIP_Label_2ad0b24d-6422-44b0-b3de-abb3a9e8c81a_SiteId">
    <vt:lpwstr>2fcfe26a-bb62-46b0-b1e3-28f9da0c45fd</vt:lpwstr>
  </property>
  <property fmtid="{D5CDD505-2E9C-101B-9397-08002B2CF9AE}" pid="7" name="MSIP_Label_2ad0b24d-6422-44b0-b3de-abb3a9e8c81a_ActionId">
    <vt:lpwstr>99295539-ceff-4e8e-a3c7-1d4a1d18c4a7</vt:lpwstr>
  </property>
  <property fmtid="{D5CDD505-2E9C-101B-9397-08002B2CF9AE}" pid="8" name="MSIP_Label_2ad0b24d-6422-44b0-b3de-abb3a9e8c81a_ContentBits">
    <vt:lpwstr>0</vt:lpwstr>
  </property>
  <property fmtid="{D5CDD505-2E9C-101B-9397-08002B2CF9AE}" pid="9" name="MSIP_Label_2ad0b24d-6422-44b0-b3de-abb3a9e8c81a_Tag">
    <vt:lpwstr>10, 3, 0, 1</vt:lpwstr>
  </property>
</Properties>
</file>